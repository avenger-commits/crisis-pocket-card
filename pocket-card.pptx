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1fb454cf-3ee3-28ef-34da-c1d3278c67ec}">
          <p14:sldIdLst>
            <p14:sldId id="256"/>
          </p14:sldIdLst>
        </p14:section>
        <p14:section name="01 위기 순간" id="{e08a8c32-519f-4b0c-e8ba-7d965fde3497}">
          <p14:sldIdLst>
            <p14:sldId id="257"/>
            <p14:sldId id="258"/>
            <p14:sldId id="259"/>
          </p14:sldIdLst>
        </p14:section>
        <p14:section name="02 위기 뒤" id="{215db521-8a6f-6234-a989-dd3ef41c3f20}">
          <p14:sldIdLst>
            <p14:sldId id="260"/>
            <p14:sldId id="261"/>
          </p14:sldIdLst>
        </p14:section>
        <p14:section name="03 나를 돌보기" id="{4f0b1d05-9cfa-f67b-83fc-9d8c96281af7}">
          <p14:sldIdLst>
            <p14:sldId id="262"/>
            <p14:sldId id="263"/>
          </p14:sldIdLst>
        </p14:section>
        <p14:section name="04 방문 전" id="{5a68400e-4787-c4e4-0736-ca131405e199}">
          <p14:sldIdLst>
            <p14:sldId id="264"/>
          </p14:sldIdLst>
        </p14:section>
        <p14:section name="05 도움받기" id="{6ff3d0fd-573c-9a83-ea0f-c16ab01e2f7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238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238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C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914400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찾아가는 위기대응교육 · 사회복지종사자용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234440"/>
            <a:ext cx="8001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위기대응 포켓 카드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2240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6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위기 순간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6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위기 뒤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6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나를 돌보기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6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방문 전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6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도움받기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434340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E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임현진(정신건강사회복지사)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위기대응 포켓 카드 · 01 위기 순간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365760"/>
            <a:ext cx="80010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지금, 위기 순간 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947928"/>
            <a:ext cx="3922776" cy="2420904"/>
          </a:xfrm>
          <a:prstGeom prst="roundRect">
            <a:avLst>
              <a:gd name="adj" fmla="val 4533"/>
            </a:avLst>
          </a:prstGeom>
          <a:solidFill>
            <a:srgbClr val="F4F6F3"/>
          </a:solidFill>
          <a:ln/>
        </p:spPr>
        <p:txBody>
          <a:bodyPr wrap="square" lIns="101600" tIns="139700" rIns="139700" bIns="10160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D947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흥분·폭력의 신호가 보일 때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거리를 둔다. 너무 가까이 가지 않는다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낮고 천천히, 짧고 쉬운 말로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D947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쳐다보기 · 손가락질 · 위협적인 표정 ✕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잠깐 쉬자고 권한다 — 타임아웃, 음료(뜨겁지 않게)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비상벨 · 동료를 부른다.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혼자 대응하지 않는다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이용자는 피신시킨다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폭력이 일어나면 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직접 제압하지 않는다</a:t>
            </a:r>
            <a:endParaRPr lang="en-US" sz="1593" dirty="0"/>
          </a:p>
        </p:txBody>
      </p:sp>
      <p:sp>
        <p:nvSpPr>
          <p:cNvPr id="5" name="Text 3"/>
          <p:cNvSpPr/>
          <p:nvPr/>
        </p:nvSpPr>
        <p:spPr>
          <a:xfrm>
            <a:off x="4649724" y="947928"/>
            <a:ext cx="3922776" cy="2420904"/>
          </a:xfrm>
          <a:prstGeom prst="roundRect">
            <a:avLst>
              <a:gd name="adj" fmla="val 4533"/>
            </a:avLst>
          </a:prstGeom>
          <a:solidFill>
            <a:srgbClr val="F4F6F3"/>
          </a:solidFill>
          <a:ln/>
        </p:spPr>
        <p:txBody>
          <a:bodyPr wrap="square" lIns="101600" tIns="139700" rIns="139700" bIns="10160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E08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폭언이 계속될 때 — 4단계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정중하게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「선생님, 화가 나셨겠지만 차분하게 말씀해 주시면 감사하겠습니다.」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단호하게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「폭언을 계속하시면 정상적인 상담이 어렵습니다. 폭언을 중단해 주십시오.」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법령 안내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「폭언을 지속할 경우 관계법령에 따라 처벌받을 수 있습니다.」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종료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「더 이상의 상담이 어렵습니다. 상담을 종료하겠습니다.」 → 상급자 · 위기대응위원회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D947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욕설 · 큰소리로 맞대응하지 않는다</a:t>
            </a:r>
            <a:endParaRPr lang="en-US" sz="159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238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위기대응 포켓 카드 · 01 위기 순간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365760"/>
            <a:ext cx="80010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지금, 위기 순간 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947928"/>
            <a:ext cx="2563368" cy="2980517"/>
          </a:xfrm>
          <a:prstGeom prst="roundRect">
            <a:avLst>
              <a:gd name="adj" fmla="val 4281"/>
            </a:avLst>
          </a:prstGeom>
          <a:solidFill>
            <a:srgbClr val="F4F6F3"/>
          </a:solidFill>
          <a:ln/>
        </p:spPr>
        <p:txBody>
          <a:bodyPr wrap="square" lIns="101600" tIns="139700" rIns="139700" bIns="10160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D947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위험한 물건을 들었을 때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D947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빼앗으려 하지 않는다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거리를 두고, 책상 위에 내려놓자고 조용히 제안한다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여럿이 둘러싸 소리치지 않는다 — 더 자극한다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CCTV 녹화 중임을 알린다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진정되지 않으면 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</a:t>
            </a:r>
            <a:endParaRPr lang="en-US" sz="1593" dirty="0"/>
          </a:p>
        </p:txBody>
      </p:sp>
      <p:sp>
        <p:nvSpPr>
          <p:cNvPr id="5" name="Text 3"/>
          <p:cNvSpPr/>
          <p:nvPr/>
        </p:nvSpPr>
        <p:spPr>
          <a:xfrm>
            <a:off x="3290316" y="947928"/>
            <a:ext cx="2563368" cy="2980517"/>
          </a:xfrm>
          <a:prstGeom prst="roundRect">
            <a:avLst>
              <a:gd name="adj" fmla="val 4281"/>
            </a:avLst>
          </a:prstGeom>
          <a:solidFill>
            <a:srgbClr val="F4F6F3"/>
          </a:solidFill>
          <a:ln/>
        </p:spPr>
        <p:txBody>
          <a:bodyPr wrap="square" lIns="101600" tIns="139700" rIns="139700" bIns="10160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2580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성희롱을 당했을 때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「그 말(행동)은 성희롱입니다. 불쾌합니다. 멈춰 주세요.」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침착하고 사무적인 표정으로, 단호하게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멈추지 않으면 면담·방문을 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중단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나온다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전화: 서비스 다시 안내 → 녹음 예고·처벌 안내 → 계속되면 끊는다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기관에 보고한다.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혼자 참지 않는다</a:t>
            </a:r>
            <a:endParaRPr lang="en-US" sz="1593" dirty="0"/>
          </a:p>
        </p:txBody>
      </p:sp>
      <p:sp>
        <p:nvSpPr>
          <p:cNvPr id="6" name="Text 4"/>
          <p:cNvSpPr/>
          <p:nvPr/>
        </p:nvSpPr>
        <p:spPr>
          <a:xfrm>
            <a:off x="6009132" y="947928"/>
            <a:ext cx="2563368" cy="2980517"/>
          </a:xfrm>
          <a:prstGeom prst="roundRect">
            <a:avLst>
              <a:gd name="adj" fmla="val 4281"/>
            </a:avLst>
          </a:prstGeom>
          <a:solidFill>
            <a:srgbClr val="F4F6F3"/>
          </a:solidFill>
          <a:ln/>
        </p:spPr>
        <p:txBody>
          <a:bodyPr wrap="square" lIns="101600" tIns="139700" rIns="139700" bIns="10160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E08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스토킹 · 집요한 괴롭힘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자책은 금물.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내가 피해자다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단호하게 거절하고, 대화는 짧고 건조하게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D947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연민으로 한 번 만나 주지 않는다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기관에 보고 → 접촉 차단, 증거 모으기, 필요하면 경찰</a:t>
            </a:r>
            <a:endParaRPr lang="en-US" sz="159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238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위기대응 포켓 카드 · 01 위기 순간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365760"/>
            <a:ext cx="80010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지금, 위기 순간 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947928"/>
            <a:ext cx="3922776" cy="1649354"/>
          </a:xfrm>
          <a:prstGeom prst="roundRect">
            <a:avLst>
              <a:gd name="adj" fmla="val 6653"/>
            </a:avLst>
          </a:prstGeom>
          <a:solidFill>
            <a:srgbClr val="F4F6F3"/>
          </a:solidFill>
          <a:ln/>
        </p:spPr>
        <p:txBody>
          <a:bodyPr wrap="square" lIns="101600" tIns="139700" rIns="139700" bIns="10160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2580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이용자의 죽음을 발견했을 때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D947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몸을 옮기거나 손대지 않는다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현장 보존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밖으로 나와 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 · 119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기관에 보고한다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그날 밤 잠이 안 오고 장면이 떠오르는 건 정상적인 반응이다 → 「위기 뒤」</a:t>
            </a:r>
            <a:endParaRPr lang="en-US" sz="1593" dirty="0"/>
          </a:p>
        </p:txBody>
      </p:sp>
      <p:sp>
        <p:nvSpPr>
          <p:cNvPr id="5" name="Text 3"/>
          <p:cNvSpPr/>
          <p:nvPr/>
        </p:nvSpPr>
        <p:spPr>
          <a:xfrm>
            <a:off x="4649724" y="947928"/>
            <a:ext cx="3922776" cy="1649354"/>
          </a:xfrm>
          <a:prstGeom prst="roundRect">
            <a:avLst>
              <a:gd name="adj" fmla="val 6653"/>
            </a:avLst>
          </a:prstGeom>
          <a:solidFill>
            <a:srgbClr val="F4F6F3"/>
          </a:solidFill>
          <a:ln/>
        </p:spPr>
        <p:txBody>
          <a:bodyPr wrap="square" lIns="101600" tIns="139700" rIns="139700" bIns="10160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D947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이용자끼리 싸울 때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혼자 말리지 않고 동료와 함께 제지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처벌 가능성 경고, 녹화 중임을 알린다(CCTV 가 없으면 휴대폰으로)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진정되지 않으면 112, 다른 이용자는 대피</a:t>
            </a:r>
            <a:endParaRPr lang="en-US" sz="159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238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위기대응 포켓 카드 · 02 위기 뒤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365760"/>
            <a:ext cx="80010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위기를 겪은 뒤 — 이 순서로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3732784"/>
            <a:ext cx="8001000" cy="948944"/>
          </a:xfrm>
          <a:prstGeom prst="roundRect">
            <a:avLst>
              <a:gd name="adj" fmla="val 9636"/>
            </a:avLst>
          </a:prstGeom>
          <a:solidFill>
            <a:srgbClr val="FDF1DF"/>
          </a:solidFill>
          <a:ln/>
        </p:spPr>
        <p:txBody>
          <a:bodyPr wrap="square" lIns="63500" tIns="152400" rIns="152400" bIns="635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느끼는 것은 비정상적인 사건에 대한 정상적인 반응입니다.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불안 · 죄책감 · 분노, 잠이 안 옴 · 두통 · 떨림, 피하고 싶음 · 술이 늘어남 — 모두 흔한 반응입니다. 대부분 몇 주 안에 가라앉습니다. 오래가거나 일상이 무너지면 혼자 버티지 말고 도움을 받으세요. 사건이 있던 날짜나 계절이 돌아올 때 다시 힘들어지는 것(기념일 반응)도 정상입니다.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947928"/>
            <a:ext cx="8001000" cy="26476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marL="228600" indent="-2286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pPr algn="l" marL="228600" indent="-2286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언제, 어디서, 무슨 일이 있었는지 사실대로</a:t>
            </a:r>
            <a:endParaRPr lang="en-US" sz="1400" dirty="0"/>
          </a:p>
          <a:p>
            <a:pPr algn="l" marL="228600" indent="-2286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</a:t>
            </a:r>
            <a:pPr algn="l" marL="228600" indent="-2286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상급자 · 위기대응위원회에 바로. 비공식 하소연으로 끝내지 않는다</a:t>
            </a:r>
            <a:endParaRPr lang="en-US" sz="1400" dirty="0"/>
          </a:p>
          <a:p>
            <a:pPr algn="l" marL="228600" indent="-2286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지원받기</a:t>
            </a:r>
            <a:pPr algn="l" marL="228600" indent="-2286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쉬기, 상담, 디브리핑(72시간 안), 협회 심리회복지원 → 「도움받기」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238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위기대응 포켓 카드 · 02 위기 뒤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365760"/>
            <a:ext cx="80010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동료가 위기를 겪었다면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911352"/>
            <a:ext cx="3877056" cy="1589065"/>
          </a:xfrm>
          <a:prstGeom prst="roundRect">
            <a:avLst>
              <a:gd name="adj" fmla="val 8056"/>
            </a:avLst>
          </a:prstGeom>
          <a:solidFill>
            <a:srgbClr val="F4F6F3"/>
          </a:solidFill>
          <a:ln/>
        </p:spPr>
        <p:txBody>
          <a:bodyPr wrap="square" lIns="114300" tIns="165100" rIns="165100" bIns="1143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44" b="1" dirty="0">
                <a:solidFill>
                  <a:srgbClr val="0F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endParaRPr lang="en-US" sz="1344" dirty="0"/>
          </a:p>
          <a:p>
            <a:pPr algn="l" marL="228600" indent="-2286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「많이 힘들지. 말하고 싶을 때 언제든 들을게.」</a:t>
            </a:r>
            <a:endParaRPr lang="en-US" sz="1344" dirty="0"/>
          </a:p>
          <a:p>
            <a:pPr algn="l" marL="228600" indent="-2286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억지로 말하게 하지 않고 곁에 있는다</a:t>
            </a:r>
            <a:endParaRPr lang="en-US" sz="1344" dirty="0"/>
          </a:p>
          <a:p>
            <a:pPr algn="l" marL="228600" indent="-2286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주, 몇 달 뒤에도 한 번 더 안부를 묻는다</a:t>
            </a:r>
            <a:endParaRPr lang="en-US" sz="1344" dirty="0"/>
          </a:p>
        </p:txBody>
      </p:sp>
      <p:sp>
        <p:nvSpPr>
          <p:cNvPr id="5" name="Text 3"/>
          <p:cNvSpPr/>
          <p:nvPr/>
        </p:nvSpPr>
        <p:spPr>
          <a:xfrm>
            <a:off x="4695444" y="911352"/>
            <a:ext cx="3877056" cy="1589065"/>
          </a:xfrm>
          <a:prstGeom prst="roundRect">
            <a:avLst>
              <a:gd name="adj" fmla="val 8056"/>
            </a:avLst>
          </a:prstGeom>
          <a:solidFill>
            <a:srgbClr val="F4F6F3"/>
          </a:solidFill>
          <a:ln/>
        </p:spPr>
        <p:txBody>
          <a:bodyPr wrap="square" lIns="114300" tIns="165100" rIns="165100" bIns="1143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44" b="1" dirty="0">
                <a:solidFill>
                  <a:srgbClr val="2580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말은 하지 않기</a:t>
            </a:r>
            <a:endParaRPr lang="en-US" sz="1344" dirty="0"/>
          </a:p>
          <a:p>
            <a:pPr algn="l" marL="228600" indent="-2286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「징후는 없었어?」 — 추측하고 평가하기</a:t>
            </a:r>
            <a:endParaRPr lang="en-US" sz="1344" dirty="0"/>
          </a:p>
          <a:p>
            <a:pPr algn="l" marL="228600" indent="-2286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「곧 잊힐 거야」 「시간이 해결해 줄 거야」</a:t>
            </a:r>
            <a:endParaRPr lang="en-US" sz="1344" dirty="0"/>
          </a:p>
          <a:p>
            <a:pPr algn="l" marL="228600" indent="-2286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「술이나 한잔하자」</a:t>
            </a:r>
            <a:endParaRPr lang="en-US" sz="1344" dirty="0"/>
          </a:p>
          <a:p>
            <a:pPr algn="l" marL="228600" indent="-2286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슬퍼하지 않는다고 탓하기</a:t>
            </a:r>
            <a:endParaRPr lang="en-US" sz="1344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238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위기대응 포켓 카드 · 03 나를 돌보기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365760"/>
            <a:ext cx="80010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나를 돌보기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71500" y="4293616"/>
            <a:ext cx="8001000" cy="388112"/>
          </a:xfrm>
          <a:prstGeom prst="roundRect">
            <a:avLst>
              <a:gd name="adj" fmla="val 23560"/>
            </a:avLst>
          </a:prstGeom>
          <a:solidFill>
            <a:srgbClr val="FDF1DF"/>
          </a:solidFill>
          <a:ln/>
        </p:spPr>
        <p:txBody>
          <a:bodyPr wrap="square" lIns="63500" tIns="152400" rIns="152400" bIns="635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자기돌봄은 사치가 아니라 </a:t>
            </a:r>
            <a:pPr algn="l" indent="0" marL="0">
              <a:buNone/>
            </a:pPr>
            <a:r>
              <a:rPr lang="en-US" sz="115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윤리적 지침</a:t>
            </a:r>
            <a:pPr algn="l" indent="0" marL="0">
              <a:buNone/>
            </a:pPr>
            <a:r>
              <a:rPr lang="en-US" sz="11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71500" y="947928"/>
            <a:ext cx="2563368" cy="2752608"/>
          </a:xfrm>
          <a:prstGeom prst="roundRect">
            <a:avLst>
              <a:gd name="adj" fmla="val 4281"/>
            </a:avLst>
          </a:prstGeom>
          <a:solidFill>
            <a:srgbClr val="F4F6F3"/>
          </a:solidFill>
          <a:ln/>
        </p:spPr>
        <p:txBody>
          <a:bodyPr wrap="square" lIns="101600" tIns="139700" rIns="139700" bIns="10160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0F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복식호흡</a:t>
            </a:r>
            <a:endParaRPr lang="en-US" sz="1593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15" dirty="0">
                <a:solidFill>
                  <a:srgbClr val="5D68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배에 손을 올리고, 코로 마셔 배를 부풀리고, 입으로 내쉰다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세며 들이마시기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세며 내쉬기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번 되풀이</a:t>
            </a:r>
            <a:endParaRPr lang="en-US" sz="1593" dirty="0"/>
          </a:p>
        </p:txBody>
      </p:sp>
      <p:sp>
        <p:nvSpPr>
          <p:cNvPr id="6" name="Text 4"/>
          <p:cNvSpPr/>
          <p:nvPr/>
        </p:nvSpPr>
        <p:spPr>
          <a:xfrm>
            <a:off x="3290316" y="947928"/>
            <a:ext cx="2563368" cy="2752608"/>
          </a:xfrm>
          <a:prstGeom prst="roundRect">
            <a:avLst>
              <a:gd name="adj" fmla="val 4281"/>
            </a:avLst>
          </a:prstGeom>
          <a:solidFill>
            <a:srgbClr val="F4F6F3"/>
          </a:solidFill>
          <a:ln/>
        </p:spPr>
        <p:txBody>
          <a:bodyPr wrap="square" lIns="101600" tIns="139700" rIns="139700" bIns="10160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2580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착지 — 지금, 그리고 여기</a:t>
            </a:r>
            <a:endParaRPr lang="en-US" sz="1593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15" dirty="0">
                <a:solidFill>
                  <a:srgbClr val="5D68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멍해지거나 그 장면으로 끌려갈 때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보이는 것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다섯 가지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숨을 깊이, 천천히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들리는 소리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다섯 가지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숨을 깊이, 천천히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몸에서 느껴지는 것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다섯 가지</a:t>
            </a:r>
            <a:endParaRPr lang="en-US" sz="1593" dirty="0"/>
          </a:p>
        </p:txBody>
      </p:sp>
      <p:sp>
        <p:nvSpPr>
          <p:cNvPr id="7" name="Text 5"/>
          <p:cNvSpPr/>
          <p:nvPr/>
        </p:nvSpPr>
        <p:spPr>
          <a:xfrm>
            <a:off x="6009132" y="947928"/>
            <a:ext cx="2563368" cy="2752608"/>
          </a:xfrm>
          <a:prstGeom prst="roundRect">
            <a:avLst>
              <a:gd name="adj" fmla="val 4281"/>
            </a:avLst>
          </a:prstGeom>
          <a:solidFill>
            <a:srgbClr val="F4F6F3"/>
          </a:solidFill>
          <a:ln/>
        </p:spPr>
        <p:txBody>
          <a:bodyPr wrap="square" lIns="101600" tIns="139700" rIns="139700" bIns="10160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4F8A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pPr algn="l" indent="0" marL="0">
              <a:spcAft>
                <a:spcPts val="500"/>
              </a:spcAft>
              <a:buNone/>
            </a:pPr>
            <a:r>
              <a:rPr lang="en-US" sz="1593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나를 돌보는 다섯 가지</a:t>
            </a:r>
            <a:endParaRPr lang="en-US" sz="1593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15" dirty="0">
                <a:solidFill>
                  <a:srgbClr val="5D68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일(work) · 여가(play) · 휴식(rest)의 균형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사교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가족 · 친구 · 동료 · 동아리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신체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운동, 산책, 레저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창조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그림, 일기, 음악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정서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명상, 상담, 슈퍼비전</a:t>
            </a:r>
            <a:endParaRPr lang="en-US" sz="1593" dirty="0"/>
          </a:p>
          <a:p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pPr algn="l" marL="177800" indent="-177800">
              <a:spcAft>
                <a:spcPts val="200"/>
              </a:spcAft>
              <a:buSzPct val="100000"/>
              <a:buChar char="•"/>
            </a:pPr>
            <a:r>
              <a:rPr lang="en-US" sz="1148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소진 예방 프로그램</a:t>
            </a:r>
            <a:endParaRPr lang="en-US" sz="159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238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위기대응 포켓 카드 · 03 나를 돌보기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365760"/>
            <a:ext cx="80010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 나는? — 대리외상 알아차리기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874776"/>
            <a:ext cx="800100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D68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점수를 매기는 검사가 아닙니다. 해당하는 것을 세어 보며 알아차리는 것이 첫걸음입니다.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1500" y="4293616"/>
            <a:ext cx="8001000" cy="388112"/>
          </a:xfrm>
          <a:prstGeom prst="roundRect">
            <a:avLst>
              <a:gd name="adj" fmla="val 23560"/>
            </a:avLst>
          </a:prstGeom>
          <a:solidFill>
            <a:srgbClr val="FDF1DF"/>
          </a:solidFill>
          <a:ln/>
        </p:spPr>
        <p:txBody>
          <a:bodyPr wrap="square" lIns="63500" tIns="152400" rIns="152400" bIns="635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개가 오래 이어진다면 </a:t>
            </a:r>
            <a:pPr algn="l" indent="0" marL="0">
              <a:buNone/>
            </a:pPr>
            <a:r>
              <a:rPr lang="en-US" sz="115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보고하고 도움을 요청하세요.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8076" y="13675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8972" y="1303528"/>
            <a:ext cx="3497580" cy="5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이용자의 이야기가 일이 끝난 뒤에도 자꾸 떠오른다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45736" y="13675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56632" y="1303528"/>
            <a:ext cx="3497580" cy="5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잠들기 어렵거나 자주 깬다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" y="193995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8972" y="1875942"/>
            <a:ext cx="3497580" cy="5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긴장하고 쉽게 놀란다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45736" y="193995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56632" y="1875942"/>
            <a:ext cx="3497580" cy="5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이용자나 이야기를 피하고 싶다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" y="2512365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" y="2448357"/>
            <a:ext cx="3497580" cy="5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무력하고 무능하게 느껴진다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45736" y="2512365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56632" y="2448357"/>
            <a:ext cx="3497580" cy="5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퇴근해서도 화가 나거나 냉소적이 된다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" y="3084779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8972" y="3020771"/>
            <a:ext cx="3497580" cy="5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나와 가족에게도 나쁜 일이 생길 것 같다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45736" y="3084779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56632" y="3020771"/>
            <a:ext cx="3497580" cy="5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세상이 전보다 위험하게 느껴진다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8076" y="365719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8972" y="3593186"/>
            <a:ext cx="3497580" cy="5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것을 내가 책임져야 할 것 같다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45736" y="365719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56632" y="3593186"/>
            <a:ext cx="3497580" cy="5724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이용자에게 거부감이나 혐오감이 든다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238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위기대응 포켓 카드 · 04 방문 전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365760"/>
            <a:ext cx="80010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가정방문 나가기 전에 확인할 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874776"/>
            <a:ext cx="8001000" cy="31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D68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위험이 예측되면 기관과 함께 방문 여부와 방법(2인 · 경찰 동행 · 장소 바꾸기)을 정합니다.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1500" y="3732784"/>
            <a:ext cx="8001000" cy="948944"/>
          </a:xfrm>
          <a:prstGeom prst="roundRect">
            <a:avLst>
              <a:gd name="adj" fmla="val 9636"/>
            </a:avLst>
          </a:prstGeom>
          <a:solidFill>
            <a:srgbClr val="FDF1DF"/>
          </a:solidFill>
          <a:ln/>
        </p:spPr>
        <p:txBody>
          <a:bodyPr wrap="square" lIns="63500" tIns="152400" rIns="152400" bIns="635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나가기 전</a:t>
            </a:r>
            <a:pPr algn="l" indent="0" marL="0">
              <a:buNone/>
            </a:pPr>
            <a:r>
              <a:rPr lang="en-US" sz="11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2인이 함께, 가급적 낮에 · 방문 장소·시간·돌아올 시간을 기관에 알린다 · 휴대폰 충전, 단축번호 1번에 112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</a:t>
            </a:r>
            <a:pPr algn="l" indent="0" marL="0">
              <a:buNone/>
            </a:pPr>
            <a:r>
              <a:rPr lang="en-US" sz="11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문 쪽에 앉는다 · 방보다 거실 같은 열린 공간 · 바로 출발할 수 있게 주차, 열쇠는 주머니에 · 위험이 느껴지면 멈추고 나온다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8076" y="13675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8972" y="1303528"/>
            <a:ext cx="3497580" cy="767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요소(정신질환 · 자살시도 · 알코올 · 가정폭력 · 아동학대 · 범죄경력)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45736" y="136753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56632" y="1303528"/>
            <a:ext cx="3497580" cy="767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방문·내방 때 직원에게 폭력을 쓴 적이 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" y="21346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8972" y="2070608"/>
            <a:ext cx="3497580" cy="767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본인이나 가족이 성범죄와 연관된 적이 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45736" y="213461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56632" y="2070608"/>
            <a:ext cx="3497580" cy="767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결핵 · 수두 같은 고위험 감염 요소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" y="290169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" y="2837688"/>
            <a:ext cx="3497580" cy="767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큰 스트레스(실직 · 재정난 · 사별)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45736" y="290169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B9C4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56632" y="2837688"/>
            <a:ext cx="3497580" cy="767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동거인 · 가족이 있다 — 누구인지, 그때 집에 있는지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238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15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위기대응 포켓 카드 · 05 도움받기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365760"/>
            <a:ext cx="800100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도움받을 곳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911352"/>
            <a:ext cx="1508760" cy="71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47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</a:t>
            </a:r>
            <a:pPr algn="l"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경찰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144268" y="911352"/>
            <a:ext cx="2290572" cy="71749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폭력 · 위협 · 진정되지 않을 때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71500" y="1647139"/>
            <a:ext cx="3863340" cy="0"/>
          </a:xfrm>
          <a:prstGeom prst="line">
            <a:avLst/>
          </a:prstGeom>
          <a:noFill/>
          <a:ln w="12700">
            <a:solidFill>
              <a:srgbClr val="DFE4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09160" y="911352"/>
            <a:ext cx="1508760" cy="71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47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119</a:t>
            </a:r>
            <a:pPr algn="l"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구급 · 화재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281928" y="911352"/>
            <a:ext cx="2290572" cy="71749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다쳤을 때, 응급 상황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647139"/>
            <a:ext cx="3863340" cy="0"/>
          </a:xfrm>
          <a:prstGeom prst="line">
            <a:avLst/>
          </a:prstGeom>
          <a:noFill/>
          <a:ln w="12700">
            <a:solidFill>
              <a:srgbClr val="DFE4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1500" y="1665427"/>
            <a:ext cx="1508760" cy="71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109 자살예방상담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144268" y="1665427"/>
            <a:ext cx="2290572" cy="71749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1500" y="2401214"/>
            <a:ext cx="3863340" cy="0"/>
          </a:xfrm>
          <a:prstGeom prst="line">
            <a:avLst/>
          </a:prstGeom>
          <a:noFill/>
          <a:ln w="12700">
            <a:solidFill>
              <a:srgbClr val="DFE4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665427"/>
            <a:ext cx="1508760" cy="71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1577-0199 정신건강위기상담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1665427"/>
            <a:ext cx="2290572" cy="71749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24시간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2401214"/>
            <a:ext cx="3863340" cy="0"/>
          </a:xfrm>
          <a:prstGeom prst="line">
            <a:avLst/>
          </a:prstGeom>
          <a:noFill/>
          <a:ln w="12700">
            <a:solidFill>
              <a:srgbClr val="DFE4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1500" y="2419502"/>
            <a:ext cx="1508760" cy="71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053-716-9841 대구광역시사회복지사협회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144268" y="2419502"/>
            <a:ext cx="2290572" cy="71749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심리회복지원 — 개인상담 최대 10회기 · 집단위기개입(72시간 안) · 의료비 1회 최대 10만 원 · 마음힐링비 · 법률 · 노무 자문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1500" y="3155290"/>
            <a:ext cx="3863340" cy="0"/>
          </a:xfrm>
          <a:prstGeom prst="line">
            <a:avLst/>
          </a:prstGeom>
          <a:noFill/>
          <a:ln w="12700">
            <a:solidFill>
              <a:srgbClr val="DFE4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9160" y="2419502"/>
            <a:ext cx="1508760" cy="71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132 대한법률구조공단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281928" y="2419502"/>
            <a:ext cx="2290572" cy="71749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법률상담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155290"/>
            <a:ext cx="3863340" cy="0"/>
          </a:xfrm>
          <a:prstGeom prst="line">
            <a:avLst/>
          </a:prstGeom>
          <a:noFill/>
          <a:ln w="12700">
            <a:solidFill>
              <a:srgbClr val="DFE4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1500" y="3173578"/>
            <a:ext cx="1508760" cy="71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1331 국가인권위원회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144268" y="3173578"/>
            <a:ext cx="2290572" cy="71749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인권침해 상담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1500" y="3909365"/>
            <a:ext cx="3863340" cy="0"/>
          </a:xfrm>
          <a:prstGeom prst="line">
            <a:avLst/>
          </a:prstGeom>
          <a:noFill/>
          <a:ln w="12700">
            <a:solidFill>
              <a:srgbClr val="DFE4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3173578"/>
            <a:ext cx="1508760" cy="71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근로복지공단 EAP · 근로자건강센터 · 정신건강복지센터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81928" y="3173578"/>
            <a:ext cx="2290572" cy="71749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· 교육 · 가족 상담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909365"/>
            <a:ext cx="3863340" cy="0"/>
          </a:xfrm>
          <a:prstGeom prst="line">
            <a:avLst/>
          </a:prstGeom>
          <a:noFill/>
          <a:ln w="12700">
            <a:solidFill>
              <a:srgbClr val="DFE4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1500" y="3927653"/>
            <a:ext cx="1508760" cy="71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전국민 마음투자 지원사업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144268" y="3927653"/>
            <a:ext cx="2290572" cy="71749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대면 심리상담 8회 바우처 · 보건복지부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71500" y="4663440"/>
            <a:ext cx="3863340" cy="0"/>
          </a:xfrm>
          <a:prstGeom prst="line">
            <a:avLst/>
          </a:prstGeom>
          <a:noFill/>
          <a:ln w="12700">
            <a:solidFill>
              <a:srgbClr val="DFE4D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09160" y="3927653"/>
            <a:ext cx="1508760" cy="7174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국가트라우마센터 「마음프로그램」 앱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281928" y="3927653"/>
            <a:ext cx="2290572" cy="717499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26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심리교육 · 안정화 기법을 혼자서도 · 번호와 지원 내용은 바뀔 수 있습니다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4663440"/>
            <a:ext cx="3863340" cy="0"/>
          </a:xfrm>
          <a:prstGeom prst="line">
            <a:avLst/>
          </a:prstGeom>
          <a:noFill/>
          <a:ln w="12700">
            <a:solidFill>
              <a:srgbClr val="DFE4D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238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위기대응 포켓 카드</dc:title>
  <dc:subject>PptxGenJS Presentation</dc:subject>
  <dc:creator>임현진</dc:creator>
  <cp:lastModifiedBy>임현진</cp:lastModifiedBy>
  <cp:revision>1</cp:revision>
  <dcterms:created xsi:type="dcterms:W3CDTF">2026-10-12T07:51:25Z</dcterms:created>
  <dcterms:modified xsi:type="dcterms:W3CDTF">2026-10-12T07:51:25Z</dcterms:modified>
</cp:coreProperties>
</file>